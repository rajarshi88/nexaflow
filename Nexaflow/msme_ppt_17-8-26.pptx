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65" r:id="rId5"/>
    <p:sldId id="267" r:id="rId6"/>
    <p:sldId id="258" r:id="rId7"/>
    <p:sldId id="260" r:id="rId8"/>
    <p:sldId id="259" r:id="rId9"/>
    <p:sldId id="269" r:id="rId10"/>
    <p:sldId id="270" r:id="rId11"/>
    <p:sldId id="261" r:id="rId12"/>
    <p:sldId id="271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1F6F09-8D1E-4D2E-B77A-050513A007D6}" v="13" dt="2026-08-17T13:21:54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AC649-0C06-4E68-86AA-EB16EF2DA63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E1635-322F-4C47-BD02-56026631D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9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9D0F-3610-E2E1-A4EB-B4B12D861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EBC49-0E03-6DBC-4393-83BF29C5F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50CEA-C496-387A-6E12-A21A8159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1B25C-5FE6-4BA0-B14A-820F26643855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462EA-73D9-ED2C-9BF8-CF1C65876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D266A-5398-2949-5444-2C168B05E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E508-662E-AC32-C2E3-6143DA2E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A260B-5332-6FBC-26CD-2DD1A7CF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5BE1A-F6FB-4971-19D8-C0FBCD6E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2C27-0DF2-42EC-A810-102371F44DC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A41E2-88A7-5313-2274-F932D8E6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CFD2E-5E01-CE7E-C783-830E3462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8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7D10E-9FD8-4148-706A-B276BC3C4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40CA4-B702-03D3-FEAB-472AD3BE9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1D5C5-7753-94D7-CD1F-6FC6D29F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E74A-6555-4033-990C-CC74DFB512B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2734B-5C6A-1697-379D-4D6615DD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C3E40-D406-F2E0-D987-6F234C0D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8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E559-D79F-41F3-FB1F-DF63C4E1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9D03F-C734-BA18-A089-B76984F0E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0BC22-59C5-57E6-E5E4-BC35A5656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5684B-BF73-9965-FF62-F337F9EFD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02323-FC6A-44A0-A2DB-29793EE0FD59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C3A43-5566-49D8-A65D-3BA8A2D4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0D970-D66B-C53D-76E8-7B31300B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8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AFD6-AE83-51E3-D32B-5D8BF52F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25BAC-9223-1F50-1209-01B090EC8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71610-0A63-8CEA-9D8A-15A73F0EF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9C8A4-9E95-D6DF-1BF1-BCA1F67AD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ABA2F-BF0E-79CB-37AC-79CA900F8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8FB39-6199-5E9A-64C0-BBC08C5C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44415-162C-492B-8274-14D523C02D82}" type="datetime1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6D93A-0FF6-7E7B-33E2-7FEAEC21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3FC202-26AC-1F07-F61D-D1EFED78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1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3735-558E-0772-234C-00A712766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86DEEA-B5FF-6DBC-3079-317E3DEA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1632-E387-42E9-9576-41485C5A45F5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42651-C00C-1498-2050-7C160DFC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4A352-06F9-819C-CE25-CD2DAE83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0E362-50B5-0FD7-2028-0D40D7AD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44AF-4723-49AA-8D36-4D332120CC43}" type="datetime1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26CC2-6969-479F-0E3F-797B876AC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B174B-DAB2-0ED4-EA3A-FB29371A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3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5F145-195E-2123-6F3E-14A909831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E7385-FBF3-FC87-B39A-9B84451F4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E1479-F352-4380-5FC8-3E3616597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DE125-83A1-6475-98B8-56AC8A8A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DD2-508A-4955-9E7C-1AF369861685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24EB9-236C-7F30-5337-3A5763C3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20F58-0D53-BC70-59BD-671A8350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07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2DA4-5DD0-BB19-0BBC-A3FC8A13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102AFA-6997-4F33-3D30-9DD1D2D8F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A2075-231D-07B1-D2C9-3D76B0136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CA7DE-2410-F702-83C3-DE49AF23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B7AD-1E98-4422-9CE6-97553EE7F194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3ABA6-9622-4987-4F31-1C00440C7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08209-52CF-B169-77CB-902C8BBD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9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C4C7-F443-6786-5E3E-43E525116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5F518-9498-DEE2-19C4-7FFA439F8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2BA7B-90A3-9B92-7EC6-95AD03F5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5B2FF-0EB0-4014-8666-2AC21DA5EF60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DC988-F627-2EFD-CEF5-BC19E646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D55E-15DB-5D40-1AF7-98B98D19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8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D4AA-B99B-F5F1-B39C-48A4894F1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D78BF-587E-48B3-8A49-1ECE9EDBB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E2B38-3F80-FF60-7267-19668C6C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68E21-C16F-439E-A109-BFDF61E462A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3F893-C710-02D0-5006-1130D0DF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97ACE-B8B9-9DB1-2085-6330A225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621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E373C0-E890-BF75-ED1B-EFBE9746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33AA9-C2A5-648F-A80D-744EE3B1F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98100-C6E8-4FE3-1118-E415452A7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6A181-3686-48F8-A55C-29A13FF985F6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D93FE-E2EF-5145-C7AE-39EEA4B21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Sir MVIT, MSME Idea Hackathon 6.0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388A4-2593-C065-3C60-525E9A5CC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8A470-0280-4EB2-BB72-B53716E4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8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eg"/><Relationship Id="rId4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jpe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e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e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689FB-D70D-6375-10EE-C46D8FAF40D8}"/>
              </a:ext>
            </a:extLst>
          </p:cNvPr>
          <p:cNvSpPr txBox="1"/>
          <p:nvPr/>
        </p:nvSpPr>
        <p:spPr>
          <a:xfrm>
            <a:off x="1846846" y="272144"/>
            <a:ext cx="8349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</a:rPr>
              <a:t>Sir M. Visvesvaraya Institute of Technology</a:t>
            </a:r>
            <a:endParaRPr lang="en-US" sz="3600" dirty="0">
              <a:solidFill>
                <a:srgbClr val="002060"/>
              </a:solidFill>
            </a:endParaRPr>
          </a:p>
        </p:txBody>
      </p:sp>
      <p:pic>
        <p:nvPicPr>
          <p:cNvPr id="4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13E766B4-B526-A6E4-D817-2B4F3C753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29" y="217358"/>
            <a:ext cx="1080408" cy="1055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3A334D-421C-13BE-0028-5B1A8C4EC78A}"/>
              </a:ext>
            </a:extLst>
          </p:cNvPr>
          <p:cNvSpPr txBox="1"/>
          <p:nvPr/>
        </p:nvSpPr>
        <p:spPr>
          <a:xfrm>
            <a:off x="2579914" y="918475"/>
            <a:ext cx="7565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Department of ICBT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A50BA-3FFB-075E-ED99-559C102A5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009" y="1480167"/>
            <a:ext cx="6231865" cy="19873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6A64CB-3EE0-A3DC-C40F-C459C7AE69DE}"/>
              </a:ext>
            </a:extLst>
          </p:cNvPr>
          <p:cNvSpPr txBox="1"/>
          <p:nvPr/>
        </p:nvSpPr>
        <p:spPr>
          <a:xfrm>
            <a:off x="0" y="3505944"/>
            <a:ext cx="12442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Agentic AI Integration for Process Automation in MSMEs </a:t>
            </a:r>
            <a:endParaRPr lang="en-US" sz="6600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F6E4DE-738E-D960-8030-B19F40242238}"/>
              </a:ext>
            </a:extLst>
          </p:cNvPr>
          <p:cNvSpPr txBox="1"/>
          <p:nvPr/>
        </p:nvSpPr>
        <p:spPr>
          <a:xfrm>
            <a:off x="2046514" y="4092863"/>
            <a:ext cx="83493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Team Members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Khalipe Chinmay Mahesh    1MV23IC024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Rajarshi </a:t>
            </a:r>
            <a:r>
              <a:rPr lang="en-IN" sz="2800" b="1" dirty="0" err="1">
                <a:solidFill>
                  <a:srgbClr val="002060"/>
                </a:solidFill>
              </a:rPr>
              <a:t>Karforma</a:t>
            </a:r>
            <a:r>
              <a:rPr lang="en-IN" sz="2800" b="1" dirty="0">
                <a:solidFill>
                  <a:srgbClr val="002060"/>
                </a:solidFill>
              </a:rPr>
              <a:t>                  1MV23IC044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FCBFD-CAD0-C768-ACDF-8C3C428A4A67}"/>
              </a:ext>
            </a:extLst>
          </p:cNvPr>
          <p:cNvSpPr txBox="1"/>
          <p:nvPr/>
        </p:nvSpPr>
        <p:spPr>
          <a:xfrm>
            <a:off x="1921329" y="5372279"/>
            <a:ext cx="83493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Team Mentors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Dr. Savita Choudhary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Dept. of ICBT 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4505C-B864-473C-BA8E-7046E6D95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104" y="0"/>
            <a:ext cx="1186543" cy="118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66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9349-0111-F15A-9630-499AC196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4683"/>
            <a:ext cx="10515600" cy="75610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 Problem Statement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94C076-2AF5-BE4D-8F5F-FCDECA4BA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57" y="1121230"/>
            <a:ext cx="10167257" cy="514565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20FBC-2135-57B8-00CA-B20CD953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Sir MVIT, MSME Idea Hackathon 6.0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002D6C-26B0-0237-06B6-0D18388A7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9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B8D7F1C6-33F8-E18B-DEED-534CF55C2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88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15F405-8FCC-502D-46AB-6BD74A2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163F854-8CB2-6485-57E4-66BD37B8CC2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61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Frontend Illustration-Overview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63307E-CF46-9D82-F985-BB3C46A452A8}"/>
              </a:ext>
            </a:extLst>
          </p:cNvPr>
          <p:cNvSpPr txBox="1">
            <a:spLocks/>
          </p:cNvSpPr>
          <p:nvPr/>
        </p:nvSpPr>
        <p:spPr>
          <a:xfrm>
            <a:off x="838199" y="1606603"/>
            <a:ext cx="10515600" cy="50557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2095E31-6B3F-B4EE-837B-2F22F4A54CD7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Sir MVIT, MSME Idea Hackathon 6.0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1BB24-6405-6402-979C-8A037CBBA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7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C5DB572E-7292-19B3-ADFE-0424D4375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A75998-9068-A026-25BD-9BC22D239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29" y="1421181"/>
            <a:ext cx="10297885" cy="493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8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0F476A-D9BD-1E57-2320-441DE840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A92273-484F-11FF-A740-5CDFA029EEB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61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Frontend Illustration-Automation Flow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3AA9B4-8BE7-33A3-D549-94ADCF227147}"/>
              </a:ext>
            </a:extLst>
          </p:cNvPr>
          <p:cNvSpPr txBox="1">
            <a:spLocks/>
          </p:cNvSpPr>
          <p:nvPr/>
        </p:nvSpPr>
        <p:spPr>
          <a:xfrm>
            <a:off x="838199" y="1606603"/>
            <a:ext cx="10515600" cy="50557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ABE27FB-1F8D-E886-E735-24CAEDBB5381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Sir MVIT, MSME Idea Hackathon 6.0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BE9FE-FD40-AF3D-EBB4-1B2BF98C0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7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81562E45-4DFD-A49F-3C7E-8D7A88C77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07BE1F-571B-3245-C45C-123026170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2" y="1421181"/>
            <a:ext cx="10711673" cy="465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99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4B7129-497C-A63B-656A-792054D67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C4074E-42B1-3CEB-14AF-663B71FC364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61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Frontend Illustration-Demand Forecast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BA8C3E-CC65-145C-8D04-5A538FCA3414}"/>
              </a:ext>
            </a:extLst>
          </p:cNvPr>
          <p:cNvSpPr txBox="1">
            <a:spLocks/>
          </p:cNvSpPr>
          <p:nvPr/>
        </p:nvSpPr>
        <p:spPr>
          <a:xfrm>
            <a:off x="838199" y="1606603"/>
            <a:ext cx="10515600" cy="50557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941FE6-0681-3604-237A-27F1B5EDCE34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Sir MVIT, MSME Idea Hackathon 6.0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2117C5-6172-513F-FCC3-A983ABDDD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7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F9E27411-5FFA-33D3-8BD7-B7AA60040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7C7A80-752D-026C-9A10-DFFEE97ABC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386839"/>
            <a:ext cx="10722431" cy="482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1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274B3-C98A-8448-6F72-8B462C0AD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833" y="1338314"/>
            <a:ext cx="10301967" cy="4952860"/>
          </a:xfrm>
        </p:spPr>
        <p:txBody>
          <a:bodyPr>
            <a:noAutofit/>
          </a:bodyPr>
          <a:lstStyle/>
          <a:p>
            <a:r>
              <a:rPr lang="en-US" sz="2400" b="1" dirty="0"/>
              <a:t>Design an Agentic AI </a:t>
            </a:r>
            <a:r>
              <a:rPr lang="en-US" sz="2400" dirty="0"/>
              <a:t>core capable of processing sales, POS, and seasonal data for demand forecasting.</a:t>
            </a:r>
          </a:p>
          <a:p>
            <a:r>
              <a:rPr lang="en-US" sz="2400" b="1" dirty="0"/>
              <a:t>Develop a predictive inventory module </a:t>
            </a:r>
            <a:r>
              <a:rPr lang="en-US" sz="2400" dirty="0"/>
              <a:t>that forecasts stock depletion per SKU and alerts the owner before stockouts occur.</a:t>
            </a:r>
          </a:p>
          <a:p>
            <a:r>
              <a:rPr lang="en-US" sz="2400" b="1" dirty="0"/>
              <a:t>Develop a customer re-engagement module </a:t>
            </a:r>
            <a:r>
              <a:rPr lang="en-US" sz="2400" dirty="0"/>
              <a:t>that matches restocked/newly launched products to relevant past buyers.</a:t>
            </a:r>
          </a:p>
          <a:p>
            <a:r>
              <a:rPr lang="en-US" sz="2400" b="1" dirty="0"/>
              <a:t>Automate personalized customer outreach </a:t>
            </a:r>
            <a:r>
              <a:rPr lang="en-US" sz="2400" dirty="0"/>
              <a:t>via WhatsApp notifications triggered by restock events.</a:t>
            </a:r>
          </a:p>
          <a:p>
            <a:r>
              <a:rPr lang="en-US" sz="2400" b="1" dirty="0"/>
              <a:t>Integrate both modules </a:t>
            </a:r>
            <a:r>
              <a:rPr lang="en-US" sz="2400" dirty="0"/>
              <a:t>under a shared data engine so inventory intelligence directly drives customer retention actions.</a:t>
            </a:r>
          </a:p>
          <a:p>
            <a:r>
              <a:rPr lang="en-US" sz="2400" b="1" dirty="0"/>
              <a:t>Reduce manual workload </a:t>
            </a:r>
            <a:r>
              <a:rPr lang="en-US" sz="2400" dirty="0"/>
              <a:t>in stock monitoring and customer follow-up by a measurable margin (target: 50–70%, consistent with literature benchmarks).</a:t>
            </a:r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E80F9-BF02-B9DD-A5F3-69D82270A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FB5922-EAA0-C6CA-5851-A57E90648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 Aim and Objectives</a:t>
            </a:r>
            <a:endParaRPr lang="en-US" sz="3600" b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B5B58C-92F7-1B2A-98B3-B3E77A1BC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8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7EC1F027-8C4A-D2E0-4B08-194520F7B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95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6F66C-3AA6-AEFB-5550-3E3D1231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57567-0BB3-099A-4932-D28D4E01A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71" y="1356005"/>
            <a:ext cx="10515600" cy="5136869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 </a:t>
            </a:r>
            <a:r>
              <a:rPr lang="en-US" sz="2400" b="1" dirty="0"/>
              <a:t>Build the Sales &amp; Customer Data Engine </a:t>
            </a:r>
            <a:r>
              <a:rPr lang="en-US" sz="2400" dirty="0"/>
              <a:t>to centralize transaction and customer data as the single source of truth for both modules.</a:t>
            </a:r>
          </a:p>
          <a:p>
            <a:pPr algn="just"/>
            <a:r>
              <a:rPr lang="en-US" sz="2400" b="1" dirty="0"/>
              <a:t>Implement the Demand Forecasting Engine</a:t>
            </a:r>
            <a:r>
              <a:rPr lang="en-US" sz="2400" dirty="0"/>
              <a:t> using historical sales velocity and seasonal patterns to compute per-SKU depletion predictions.</a:t>
            </a:r>
          </a:p>
          <a:p>
            <a:pPr algn="just"/>
            <a:r>
              <a:rPr lang="en-US" sz="2400" b="1" dirty="0"/>
              <a:t>Implement threshold-based alerting logic</a:t>
            </a:r>
            <a:r>
              <a:rPr lang="en-US" sz="2400" dirty="0"/>
              <a:t> that notifies the business owner ahead of stockouts rather than after.</a:t>
            </a:r>
          </a:p>
          <a:p>
            <a:pPr algn="just"/>
            <a:r>
              <a:rPr lang="en-US" sz="2400" b="1" dirty="0"/>
              <a:t>Build the Customer–Product Matching logic </a:t>
            </a:r>
            <a:r>
              <a:rPr lang="en-US" sz="2400" dirty="0"/>
              <a:t>to link restocked SKUs back to customers who previously purchased the same or related products.</a:t>
            </a:r>
          </a:p>
          <a:p>
            <a:pPr algn="just"/>
            <a:r>
              <a:rPr lang="en-US" sz="2400" b="1" dirty="0"/>
              <a:t>Integrate a WhatsApp Notification Engine </a:t>
            </a:r>
            <a:r>
              <a:rPr lang="en-US" sz="2400" dirty="0"/>
              <a:t>to auto-generate and send personalized re-engagement messages triggered by restock/new-launch events.</a:t>
            </a:r>
          </a:p>
          <a:p>
            <a:pPr algn="just"/>
            <a:r>
              <a:rPr lang="en-US" sz="2400" b="1" dirty="0"/>
              <a:t>Connect both modules </a:t>
            </a:r>
            <a:r>
              <a:rPr lang="en-US" sz="2400" dirty="0"/>
              <a:t>so that inventory events (restocks) automatically cascade into customer engagement actions without manual triggering.</a:t>
            </a:r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D5BE1-6846-8F07-D3F4-87D3B61C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82FA77-6121-857F-6BC2-1F6A5612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Proposed Solution/Innovation </a:t>
            </a:r>
            <a:endParaRPr lang="en-US" sz="3600" b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7A3A0-BB16-142C-CB9E-5BE368416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8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20B66448-DF88-5791-3825-63967CE84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16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2AE6-13ED-1A15-C2AC-5D5FB672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EC733-9898-3FED-10BD-B6F40B34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C3848A-285A-E778-0EED-454B7652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21686" cy="75610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+mn-lt"/>
              </a:rPr>
              <a:t> Working Methodology/Diagram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A3E4B-8AFC-54F4-8EAF-4FEFA8BCD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8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6C70EBBA-C46F-C7A9-1BAD-7C8006D19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6A029351-EA34-F00A-F97B-9264F88EF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04938"/>
            <a:ext cx="10341429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99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AC29F7-B29F-170C-A413-EDDDF8A1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F7CFF95-4656-F9B3-1E3C-2551F6180E1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Sir MVIT, MSME Idea Hackathon 6.0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E27BF8-1C44-F214-2098-1E2E71696CB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221686" cy="7561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  <a:latin typeface="+mn-lt"/>
              </a:rPr>
              <a:t> Technical Details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64561-00BA-EE09-E559-556B60090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6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0074086C-9C77-F6D3-C436-0DAEBE140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B1E40D-84F9-0818-1711-10412EB0B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4" y="990878"/>
            <a:ext cx="10594606" cy="535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5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5A8AC62-BA25-799A-00C1-7E78025AFF8D}"/>
              </a:ext>
            </a:extLst>
          </p:cNvPr>
          <p:cNvSpPr txBox="1">
            <a:spLocks/>
          </p:cNvSpPr>
          <p:nvPr/>
        </p:nvSpPr>
        <p:spPr>
          <a:xfrm>
            <a:off x="936171" y="1356005"/>
            <a:ext cx="10515600" cy="51368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8689D89-BDFC-4039-C809-EA04A4BC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DEE3BC3-DB3A-3913-3656-26DA251B9C1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61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Expected Outcomes and Impact </a:t>
            </a:r>
            <a:endParaRPr lang="en-US" sz="3600" b="1" dirty="0">
              <a:solidFill>
                <a:srgbClr val="00206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B4EA89-DF09-499F-A5D5-AF8074428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16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8C9C93C9-2976-FF2C-7AB3-371C4229E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197332-3B1B-9A2C-8083-E123719EF2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999" y="1056054"/>
            <a:ext cx="9295943" cy="523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48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01824-08CB-7140-CFC5-B0ECAD77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9DBBC-E4BE-8CCD-FEF1-F659D0FE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3C95598-9718-FDD4-748C-3DD38BB8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Estimated Budget/Cost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B85F97-4170-58EC-8028-3D51F0A74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8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0CB4DB26-DBE5-B6E6-3F14-76C7EFB9A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8200" y="1280000"/>
          <a:ext cx="10515600" cy="4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/>
                <a:gridCol w="2900000"/>
                <a:gridCol w="4915600"/>
                <a:gridCol w="2000000"/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91440" marR="91440" marT="27432" marB="27432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Budget Head</a:t>
                      </a:r>
                    </a:p>
                  </a:txBody>
                  <a:tcPr anchor="ctr" marL="91440" marR="91440" marT="27432" marB="27432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91440" marR="91440" marT="27432" marB="27432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Estimated Cost (Rs.)</a:t>
                      </a:r>
                    </a:p>
                  </a:txBody>
                  <a:tcPr anchor="ctr" marL="91440" marR="91440" marT="27432" marB="27432">
                    <a:solidFill>
                      <a:srgbClr val="002060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Manpower &amp; Development Team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Stipend for 2 developers across the 6-month build phase (backend, Agentic AI core, frontend)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5,00,000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Cloud Infrastructure &amp; Hosting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AWS/GCP servers, database (PostgreSQL/MySQL), storage &amp; backups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1,50,000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AI / LLM API Costs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Agentic AI core inference for demand forecasting &amp; decision logic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2,00,000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WhatsApp Business API Integration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Messaging credits, API setup &amp; automated notification engine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1,20,000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Software Tools &amp; Licenses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Dev/testing tools, monitoring, version control, cloud dashboards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80,000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Pilot Deployment with MSME Partners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Onboarding 3-5 MSMEs, real-world data collection &amp; field testing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1,50,000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Hardware &amp; Equipment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Testing devices, connectivity &amp; peripherals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60,000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Marketing, Onboarding &amp; Documentation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User manuals, demo videos &amp; outreach material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70,000</a:t>
                      </a:r>
                    </a:p>
                  </a:txBody>
                  <a:tcPr anchor="ctr" marL="91440" marR="91440" marT="27432" marB="27432">
                    <a:solidFill>
                      <a:srgbClr val="EAF1F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Contingency (10%)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Buffer for unforeseen expenses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2060"/>
                          </a:solidFill>
                          <a:latin typeface="Calibri"/>
                        </a:rPr>
                        <a:t>Rs. 1,20,000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91440" marR="91440" marT="27432" marB="27432">
                    <a:solidFill>
                      <a:srgbClr val="D7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Calibri"/>
                        </a:rPr>
                        <a:t>Total Estimated Cost</a:t>
                      </a:r>
                    </a:p>
                  </a:txBody>
                  <a:tcPr anchor="ctr" marL="91440" marR="91440" marT="27432" marB="27432">
                    <a:solidFill>
                      <a:srgbClr val="D7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Within the Rs. 15,00,000 sanctioned MSME grant</a:t>
                      </a:r>
                    </a:p>
                  </a:txBody>
                  <a:tcPr anchor="ctr" marL="91440" marR="91440" marT="27432" marB="27432">
                    <a:solidFill>
                      <a:srgbClr val="D7E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Rs. 14,50,000</a:t>
                      </a:r>
                    </a:p>
                  </a:txBody>
                  <a:tcPr anchor="ctr" marL="91440" marR="91440" marT="27432" marB="27432">
                    <a:solidFill>
                      <a:srgbClr val="D7E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169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7FD748-2283-1B51-1272-5E600678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6AA7E-F666-B16C-27B9-3E93CD1A9B4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  <a:spcAft>
                <a:spcPts val="1400"/>
              </a:spcAft>
              <a:buNone/>
            </a:pPr>
            <a:r>
              <a:rPr sz="1600" i="1">
                <a:solidFill>
                  <a:srgbClr val="333333"/>
                </a:solidFill>
              </a:rPr>
              <a:t>The current prototype targets a single MSME vertical for demand forecasting and customer re-engagement. Its modular, cloud-native architecture is built to extend well beyond this first use case: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500" b="1">
                <a:solidFill>
                  <a:srgbClr val="002060"/>
                </a:solidFill>
              </a:rPr>
              <a:t>Multi-Industry Expansion:  </a:t>
            </a:r>
            <a:r>
              <a:rPr sz="1500" b="0">
                <a:solidFill>
                  <a:srgbClr val="333333"/>
                </a:solidFill>
              </a:rPr>
              <a:t>Extend the Agentic AI core to other MSME sectors - apparel, electronics, pharmacy and home services - by retraining forecasting models on sector-specific data.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500" b="1">
                <a:solidFill>
                  <a:srgbClr val="002060"/>
                </a:solidFill>
              </a:rPr>
              <a:t>Multi-Channel Outreach:  </a:t>
            </a:r>
            <a:r>
              <a:rPr sz="1500" b="0">
                <a:solidFill>
                  <a:srgbClr val="333333"/>
                </a:solidFill>
              </a:rPr>
              <a:t>Add SMS, email and voice-call automation alongside WhatsApp so customer engagement adapts to each business's preferred channel.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500" b="1">
                <a:solidFill>
                  <a:srgbClr val="002060"/>
                </a:solidFill>
              </a:rPr>
              <a:t>ERP / POS Integrations:  </a:t>
            </a:r>
            <a:r>
              <a:rPr sz="1500" b="0">
                <a:solidFill>
                  <a:srgbClr val="333333"/>
                </a:solidFill>
              </a:rPr>
              <a:t>Build native connectors for popular platforms such as Tally, Zoho and Vyapar for plug-and-play onboarding of existing MSMEs.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500" b="1">
                <a:solidFill>
                  <a:srgbClr val="002060"/>
                </a:solidFill>
              </a:rPr>
              <a:t>Dynamic Pricing &amp; Supplier Automation:  </a:t>
            </a:r>
            <a:r>
              <a:rPr sz="1500" b="0">
                <a:solidFill>
                  <a:srgbClr val="333333"/>
                </a:solidFill>
              </a:rPr>
              <a:t>Extend the agentic core to recommend demand-based pricing and auto-trigger supplier reorders, closing the loop from forecast to fulfilment.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500" b="1">
                <a:solidFill>
                  <a:srgbClr val="002060"/>
                </a:solidFill>
              </a:rPr>
              <a:t>Regional Language Support:  </a:t>
            </a:r>
            <a:r>
              <a:rPr sz="1500" b="0">
                <a:solidFill>
                  <a:srgbClr val="333333"/>
                </a:solidFill>
              </a:rPr>
              <a:t>Localise the WhatsApp messaging and owner dashboard into regional languages to widen accessibility across India.</a:t>
            </a:r>
          </a:p>
          <a:p>
            <a:pPr>
              <a:lnSpc>
                <a:spcPct val="105000"/>
              </a:lnSpc>
              <a:spcBef>
                <a:spcPts val="800"/>
              </a:spcBef>
            </a:pPr>
            <a:r>
              <a:rPr sz="1500" b="1">
                <a:solidFill>
                  <a:srgbClr val="002060"/>
                </a:solidFill>
              </a:rPr>
              <a:t>SaaS Monetization &amp; Scale-up:  </a:t>
            </a:r>
            <a:r>
              <a:rPr sz="1500" b="0">
                <a:solidFill>
                  <a:srgbClr val="333333"/>
                </a:solidFill>
              </a:rPr>
              <a:t>Package the platform as a tiered subscription (by SKU volume/customer base) and partner with MSME associations for large-scale, cluster-wide rollout.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AC39A-D3D1-735A-7D62-0D9A05914CA6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Sir MVIT, MSME Idea Hackathon 6.0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1E79E4F-7169-02BD-C2D9-378C1290FFD0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561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Future Scope and Scalability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1774C-50BD-FD01-C98E-89FDE7590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360" y="65175"/>
            <a:ext cx="990879" cy="990879"/>
          </a:xfrm>
          <a:prstGeom prst="rect">
            <a:avLst/>
          </a:prstGeom>
        </p:spPr>
      </p:pic>
      <p:pic>
        <p:nvPicPr>
          <p:cNvPr id="7" name="Picture 2" descr="Sir M. Visvesvaraya Institute of Technology: Courses, Fees ...">
            <a:extLst>
              <a:ext uri="{FF2B5EF4-FFF2-40B4-BE49-F238E27FC236}">
                <a16:creationId xmlns:a16="http://schemas.microsoft.com/office/drawing/2014/main" id="{BF5FB908-37C0-C73A-B95C-9F8DAA845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7" y="195664"/>
            <a:ext cx="813706" cy="7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057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3C67B1-0040-2270-0E73-7D4F4392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 MVIT, MSME Idea Hackathon 6.0 </a:t>
            </a:r>
          </a:p>
        </p:txBody>
      </p:sp>
      <p:pic>
        <p:nvPicPr>
          <p:cNvPr id="3" name="Picture 2" descr="Thank You Vector Art, Icons, and Graphics for Free Download">
            <a:extLst>
              <a:ext uri="{FF2B5EF4-FFF2-40B4-BE49-F238E27FC236}">
                <a16:creationId xmlns:a16="http://schemas.microsoft.com/office/drawing/2014/main" id="{E062881A-E7F1-CFD0-1CCD-4BF4E8892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484" y="359228"/>
            <a:ext cx="5671457" cy="567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33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433</Words>
  <Application>Microsoft Office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 Problem Statement</vt:lpstr>
      <vt:lpstr>PowerPoint Presentation</vt:lpstr>
      <vt:lpstr>PowerPoint Presentation</vt:lpstr>
      <vt:lpstr>PowerPoint Presentation</vt:lpstr>
      <vt:lpstr> Aim and Objectives</vt:lpstr>
      <vt:lpstr>Proposed Solution/Innovation </vt:lpstr>
      <vt:lpstr> Working Methodology/Diagram</vt:lpstr>
      <vt:lpstr>PowerPoint Presentation</vt:lpstr>
      <vt:lpstr>PowerPoint Presentation</vt:lpstr>
      <vt:lpstr>Estimated Budget/Cost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Vijay</dc:creator>
  <cp:lastModifiedBy>chinmay khalipe</cp:lastModifiedBy>
  <cp:revision>5</cp:revision>
  <dcterms:created xsi:type="dcterms:W3CDTF">2026-08-05T10:01:48Z</dcterms:created>
  <dcterms:modified xsi:type="dcterms:W3CDTF">2026-08-17T13:27:22Z</dcterms:modified>
</cp:coreProperties>
</file>